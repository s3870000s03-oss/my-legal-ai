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23360"/>
            <a:ext cx="9144000" cy="1120140"/>
          </a:xfrm>
          <a:prstGeom prst="rect">
            <a:avLst/>
          </a:prstGeom>
          <a:solidFill>
            <a:srgbClr val="2E75B6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457200"/>
            <a:ext cx="914400" cy="914400"/>
          </a:xfrm>
          <a:prstGeom prst="ellipse">
            <a:avLst/>
          </a:prstGeom>
          <a:solidFill>
            <a:srgbClr val="2E75B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4572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생활법률 AI 상담 에이전트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Engineering + Real-time 판례 검색 기반 AI 법률 분석 도구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발표 | AI도구 활용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스마트콘텐츠학과 2021145053 이기성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46177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91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5개 법률 카테고리 &amp; 채팅 기반 UI</a:t>
            </a:r>
            <a:endParaRPr lang="en-US" sz="2200" dirty="0"/>
          </a:p>
        </p:txBody>
      </p:sp>
      <p:pic>
        <p:nvPicPr>
          <p:cNvPr id="5" name="Image 0" descr="/home/claude/imgs/s2_categ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68680"/>
            <a:ext cx="502920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0" y="868680"/>
            <a:ext cx="3200400" cy="32004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852160" y="9601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지원 카테고리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97880" y="1490472"/>
            <a:ext cx="201168" cy="201168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9" name="Text 6"/>
          <p:cNvSpPr/>
          <p:nvPr/>
        </p:nvSpPr>
        <p:spPr>
          <a:xfrm>
            <a:off x="6263640" y="14173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임대차 분쟁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897880" y="1901952"/>
            <a:ext cx="201168" cy="201168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1" name="Text 8"/>
          <p:cNvSpPr/>
          <p:nvPr/>
        </p:nvSpPr>
        <p:spPr>
          <a:xfrm>
            <a:off x="626364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절도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897880" y="2313432"/>
            <a:ext cx="201168" cy="20116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3" name="Text 10"/>
          <p:cNvSpPr/>
          <p:nvPr/>
        </p:nvSpPr>
        <p:spPr>
          <a:xfrm>
            <a:off x="6263640" y="2240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사기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897880" y="2724912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5" name="Text 12"/>
          <p:cNvSpPr/>
          <p:nvPr/>
        </p:nvSpPr>
        <p:spPr>
          <a:xfrm>
            <a:off x="6263640" y="2651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교통사고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897880" y="3136392"/>
            <a:ext cx="201168" cy="20116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4"/>
          <p:cNvSpPr/>
          <p:nvPr/>
        </p:nvSpPr>
        <p:spPr>
          <a:xfrm>
            <a:off x="6263640" y="3063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온라인 거래 사기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852160" y="35661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대화형 인터페이스로 일반인이 쉽게 사용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65760" y="4297680"/>
            <a:ext cx="8503920" cy="54864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8640" y="429768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응답에 면책 조항 자동 포함 — 법률 조언이 아닌 참고용 분석 도구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91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프로젝트 구조</a:t>
            </a:r>
            <a:endParaRPr lang="en-US" sz="2200" dirty="0"/>
          </a:p>
        </p:txBody>
      </p:sp>
      <p:pic>
        <p:nvPicPr>
          <p:cNvPr id="5" name="Image 0" descr="/home/claude/imgs/s3_vs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68680"/>
            <a:ext cx="3657600" cy="4114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97680" y="868680"/>
            <a:ext cx="4572000" cy="41148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480560" y="9601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주요 파일 구성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480560" y="1417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pages/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355080" y="1417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화면 (채팅 UI)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4480560" y="17465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ChatPage.jsx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355080" y="174650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메인 채팅 화면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480560" y="20756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InfoPage.jsx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355080" y="207568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서비스 안내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480560" y="24048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355080" y="24048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데이터 (법률/판례)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480560" y="273405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cases.json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355080" y="273405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판례 샘플 데이터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480560" y="3063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laws.json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355080" y="306324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법령 데이터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480560" y="339242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utils/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355080" y="3392424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로직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480560" y="37216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api.js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355080" y="372160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AI API 호출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480560" y="40507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lawApi.js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355080" y="40507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대법원 판례 API + 키워드 추출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480560" y="43799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 promptBuilder.js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355080" y="4379976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프롬프트 자동 조립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91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사용 API 3종 — 역할 분리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2834640" cy="41148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2834640" cy="4572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868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Groq API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716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llama-3.3-70b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6916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분석 엔진</a:t>
            </a:r>
            <a:endParaRPr lang="en-US" sz="1300" dirty="0"/>
          </a:p>
        </p:txBody>
      </p:sp>
      <p:pic>
        <p:nvPicPr>
          <p:cNvPr id="10" name="Image 0" descr="/home/claude/imgs/s4_gro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148840"/>
            <a:ext cx="2560320" cy="9144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65760" y="320040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키워드 추출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판례 선별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분석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46120" y="868680"/>
            <a:ext cx="2834640" cy="41148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868680"/>
            <a:ext cx="283464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4" name="Text 11"/>
          <p:cNvSpPr/>
          <p:nvPr/>
        </p:nvSpPr>
        <p:spPr>
          <a:xfrm>
            <a:off x="3337560" y="868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대법원 OpenAPI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337560" y="13716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law.go.kr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337560" y="16916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실시간 판례 검색</a:t>
            </a:r>
            <a:endParaRPr lang="en-US" sz="1300" dirty="0"/>
          </a:p>
        </p:txBody>
      </p:sp>
      <p:pic>
        <p:nvPicPr>
          <p:cNvPr id="17" name="Image 1" descr="/home/claude/imgs/s4_la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148840"/>
            <a:ext cx="2560320" cy="9144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337560" y="320040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목록 검색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본문 조회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사건명 매칭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217920" y="868680"/>
            <a:ext cx="2834640" cy="411480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17920" y="868680"/>
            <a:ext cx="283464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7"/>
          <p:cNvSpPr/>
          <p:nvPr/>
        </p:nvSpPr>
        <p:spPr>
          <a:xfrm>
            <a:off x="6309360" y="8686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promptBuilder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309360" y="13716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조립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309360" y="16916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프롬프트 자동 생성</a:t>
            </a:r>
            <a:endParaRPr lang="en-US" sz="1300" dirty="0"/>
          </a:p>
        </p:txBody>
      </p:sp>
      <p:pic>
        <p:nvPicPr>
          <p:cNvPr id="24" name="Image 2" descr="/home/claude/imgs/s4_promp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148840"/>
            <a:ext cx="2560320" cy="9144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09360" y="320040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법령 + 판례 +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 입력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자동 조합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91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키워드 추출 기반 판례 검색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503920" cy="4572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자연어 상황 입력 → AI가 사건명 매칭용 법률 키워드 8~10개 자동 추출 → 키워드별 병렬 검색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F12 콘솔 로그</a:t>
            </a:r>
            <a:endParaRPr lang="en-US" sz="1300" dirty="0"/>
          </a:p>
        </p:txBody>
      </p:sp>
      <p:pic>
        <p:nvPicPr>
          <p:cNvPr id="8" name="Image 0" descr="/home/claude/imgs/s5_conso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783080"/>
            <a:ext cx="4114800" cy="1463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754880" y="1417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실제 검색 결과</a:t>
            </a:r>
            <a:endParaRPr lang="en-US" sz="1300" dirty="0"/>
          </a:p>
        </p:txBody>
      </p:sp>
      <p:pic>
        <p:nvPicPr>
          <p:cNvPr id="10" name="Image 1" descr="/home/claude/imgs/s5_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783080"/>
            <a:ext cx="4114800" cy="14630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65760" y="3429000"/>
            <a:ext cx="8503920" cy="146304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48640" y="3520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포인트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40080" y="384048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사건명 매칭형 키워드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- '교통사고처리특례법위반', '도주치상' 같은 실제 사건명에 들어갈 단어로 변환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병렬 검색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- 8~10개 키워드를 동시에 요청하여 검색 범위 확장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중복 제거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- 키워드별 중복 판례 자동 제거 → 28~29건 수집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91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유사 판례 선별 + 상세 분석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503920" cy="457200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수집된 28~29개 판례 중 AI가 사용자 상황과 가장 유사한 5개를 자동 선별</a:t>
            </a:r>
            <a:endParaRPr lang="en-US" sz="1200" dirty="0"/>
          </a:p>
        </p:txBody>
      </p:sp>
      <p:pic>
        <p:nvPicPr>
          <p:cNvPr id="7" name="Image 0" descr="/home/claude/imgs/s6_sel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4114800" cy="21945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754880" y="1463040"/>
            <a:ext cx="4114800" cy="219456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37760" y="1554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selectBestCases 로직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937760" y="1920240"/>
            <a:ext cx="3749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1. 후보 판례 목록 + 사용자 상황을 AI에 전달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2. AI가 가장 유사한 5개 인덱스 응답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3. 응답 파싱 후 5개 미만이면 자동 보완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4. 선별된 판례 본문까지 조회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</a:rPr>
              <a:t>→ 1차 검색(28건) → 2차 AI 선별(5건)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" y="3840480"/>
            <a:ext cx="8503920" cy="105156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48640" y="3886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왜 2단계 선별이 필요한가?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4206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키워드 매칭만으로는 사건명이 비슷해도 실제 상황은 다를 수 있음. 예를 들어 '교통사고' 판례여도 신호위반/추돌/뺑소니/음주 등 양상이 다양함. AI가 사용자 상황(예: 고속도로 추돌 100:0)과 가장 가까운 판례만 골라야 분석 정확도가 올라감.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91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실제 상담 시연 — 단계별 대화 흐름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① 카테고리 선택 + 상황 입력</a:t>
            </a:r>
            <a:endParaRPr lang="en-US" sz="1300" dirty="0"/>
          </a:p>
        </p:txBody>
      </p:sp>
      <p:pic>
        <p:nvPicPr>
          <p:cNvPr id="6" name="Image 0" descr="/home/claude/imgs/s7_cha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80160"/>
            <a:ext cx="4206240" cy="3200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54880" y="868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② AI의 후속 질문 + 사용자 답변</a:t>
            </a:r>
            <a:endParaRPr lang="en-US" sz="1300" dirty="0"/>
          </a:p>
        </p:txBody>
      </p:sp>
      <p:pic>
        <p:nvPicPr>
          <p:cNvPr id="8" name="Image 1" descr="/home/claude/imgs/s7_chat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4206240" cy="32004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65760" y="4617720"/>
            <a:ext cx="8503920" cy="411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6"/>
          <p:cNvSpPr/>
          <p:nvPr/>
        </p:nvSpPr>
        <p:spPr>
          <a:xfrm>
            <a:off x="457200" y="461772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결과의 예상 확률(%)은 사용자 이해를 돕기 위한 AI 추정치이며, 실제 법적 판단이 아님 — 면책 조항으로 보완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91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분석 결과 — 6단계 상세 분석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적용 법 조항 + 핵심 분석 + 유사 판례</a:t>
            </a:r>
            <a:endParaRPr lang="en-US" sz="1200" dirty="0"/>
          </a:p>
        </p:txBody>
      </p:sp>
      <p:pic>
        <p:nvPicPr>
          <p:cNvPr id="6" name="Image 0" descr="/home/claude/imgs/s8_resul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80160"/>
            <a:ext cx="4206240" cy="3017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54880" y="868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예상 결과 (확률 %) + 해결 방안</a:t>
            </a:r>
            <a:endParaRPr lang="en-US" sz="1200" dirty="0"/>
          </a:p>
        </p:txBody>
      </p:sp>
      <p:pic>
        <p:nvPicPr>
          <p:cNvPr id="8" name="Image 1" descr="/home/claude/imgs/s8_result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4206240" cy="30175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65760" y="4434840"/>
            <a:ext cx="8503920" cy="64008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548640" y="4462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지식 보완 기능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48640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대법원 API에서 충분한 판례를 못 찾으면 AI 학습 지식으로 자동 보완하고 "(AI 지식 기반)" 표시 — API 한계 보완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91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추가 질문 기능 &amp; 한계점 · 개선 방향</a:t>
            </a:r>
            <a:endParaRPr lang="en-US" sz="2200" dirty="0"/>
          </a:p>
        </p:txBody>
      </p:sp>
      <p:pic>
        <p:nvPicPr>
          <p:cNvPr id="5" name="Image 0" descr="/home/claude/imgs/s9_follow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868680"/>
            <a:ext cx="4023360" cy="2560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0" y="868680"/>
            <a:ext cx="4297680" cy="25603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754880" y="960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5B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추가 질문 기능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754880" y="132588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분석 결과를 받은 후에도 후속 질문을 자유롭게 가능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이전 대화 맥락을 기억하여 이어지는 답변 제공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예: 보험사 과실 비율 분쟁, 합의 절차, 추가 증거 수집 등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" y="3611880"/>
            <a:ext cx="8503920" cy="1417320"/>
          </a:xfrm>
          <a:prstGeom prst="rect">
            <a:avLst/>
          </a:prstGeom>
          <a:solidFill>
            <a:srgbClr val="FFF7ED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548640" y="3657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한계점 및 개선 방향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39776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예상 확률은 AI 추정치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 — 실제 판례 통계와 연동하면 정확도 향상 가능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판례 본문 조회 CORS 제약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 — 백엔드 프록시 서버 도입으로 해결 가능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카테고리 5종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 — 노동, 의료분쟁 등으로 확대 + 분석 결과 PDF 저장 기능 추가 예정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65760" y="5166360"/>
            <a:ext cx="8503920" cy="0"/>
          </a:xfrm>
          <a:prstGeom prst="rect">
            <a:avLst/>
          </a:prstGeom>
          <a:solidFill>
            <a:srgbClr val="1B2A4A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0" y="1371600"/>
            <a:ext cx="1097280" cy="1097280"/>
          </a:xfrm>
          <a:prstGeom prst="ellipse">
            <a:avLst/>
          </a:prstGeom>
          <a:solidFill>
            <a:srgbClr val="2E75B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23360" y="137160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26517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생활법률 AI 상담 에이전트  |  스마트콘텐츠학과 2021145053 이기성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생활법률 AI 상담 에이전트</dc:title>
  <dc:subject>PptxGenJS Presentation</dc:subject>
  <dc:creator>이기성</dc:creator>
  <cp:lastModifiedBy>이기성</cp:lastModifiedBy>
  <cp:revision>1</cp:revision>
  <dcterms:created xsi:type="dcterms:W3CDTF">2026-06-10T15:29:06Z</dcterms:created>
  <dcterms:modified xsi:type="dcterms:W3CDTF">2026-06-10T15:29:06Z</dcterms:modified>
</cp:coreProperties>
</file>